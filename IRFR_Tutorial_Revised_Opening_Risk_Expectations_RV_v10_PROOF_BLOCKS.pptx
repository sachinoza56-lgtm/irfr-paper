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58"/>
  </p:normalViewPr>
  <p:slideViewPr>
    <p:cSldViewPr snapToGrid="0">
      <p:cViewPr varScale="1">
        <p:scale>
          <a:sx n="120" d="100"/>
          <a:sy n="120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dirty="0" err="1"/>
              <a:t>Stylised</a:t>
            </a:r>
            <a:r>
              <a:rPr lang="en-US" baseline="0" dirty="0"/>
              <a:t> Changing Yield Curve</a:t>
            </a:r>
            <a:endParaRPr lang="en-US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 yield curve</c:v>
                </c:pt>
              </c:strCache>
            </c:strRef>
          </c:tx>
          <c:spPr>
            <a:ln w="31680">
              <a:solidFill>
                <a:srgbClr val="3366AA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0.00%</c:formatCode>
                <c:ptCount val="11"/>
                <c:pt idx="0">
                  <c:v>5.0000000000000001E-3</c:v>
                </c:pt>
                <c:pt idx="1">
                  <c:v>7.4999999999999997E-3</c:v>
                </c:pt>
                <c:pt idx="2">
                  <c:v>1.0500000000000001E-2</c:v>
                </c:pt>
                <c:pt idx="3">
                  <c:v>1.3500000000000002E-2</c:v>
                </c:pt>
                <c:pt idx="4">
                  <c:v>1.6500000000000001E-2</c:v>
                </c:pt>
                <c:pt idx="5">
                  <c:v>1.95E-2</c:v>
                </c:pt>
                <c:pt idx="6">
                  <c:v>2.2000000000000002E-2</c:v>
                </c:pt>
                <c:pt idx="7">
                  <c:v>2.4500000000000001E-2</c:v>
                </c:pt>
                <c:pt idx="8">
                  <c:v>2.6499999999999999E-2</c:v>
                </c:pt>
                <c:pt idx="9">
                  <c:v>2.8500000000000001E-2</c:v>
                </c:pt>
                <c:pt idx="10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4C-AC42-AA4C-4D5391F334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Parallel upward shift</c:v>
                </c:pt>
              </c:strCache>
            </c:strRef>
          </c:tx>
          <c:spPr>
            <a:ln w="31680">
              <a:solidFill>
                <a:srgbClr val="C77A1E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Sheet1!$C$2:$C$12</c:f>
              <c:numCache>
                <c:formatCode>0.00%</c:formatCode>
                <c:ptCount val="11"/>
                <c:pt idx="0">
                  <c:v>1.2500000000000001E-2</c:v>
                </c:pt>
                <c:pt idx="1">
                  <c:v>1.4999999999999999E-2</c:v>
                </c:pt>
                <c:pt idx="2">
                  <c:v>1.8000000000000002E-2</c:v>
                </c:pt>
                <c:pt idx="3">
                  <c:v>2.1000000000000001E-2</c:v>
                </c:pt>
                <c:pt idx="4">
                  <c:v>2.4E-2</c:v>
                </c:pt>
                <c:pt idx="5">
                  <c:v>2.7000000000000003E-2</c:v>
                </c:pt>
                <c:pt idx="6">
                  <c:v>2.9500000000000002E-2</c:v>
                </c:pt>
                <c:pt idx="7">
                  <c:v>3.2000000000000001E-2</c:v>
                </c:pt>
                <c:pt idx="8">
                  <c:v>3.4000000000000002E-2</c:v>
                </c:pt>
                <c:pt idx="9">
                  <c:v>3.6000000000000004E-2</c:v>
                </c:pt>
                <c:pt idx="10">
                  <c:v>3.7499999999999999E-2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C-AC42-AA4C-4D5391F334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34519500"/>
        <c:axId val="76360437"/>
      </c:lineChart>
      <c:catAx>
        <c:axId val="345195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Time in Years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76360437"/>
        <c:crosses val="autoZero"/>
        <c:auto val="1"/>
        <c:lblAlgn val="ctr"/>
        <c:lblOffset val="100"/>
        <c:noMultiLvlLbl val="0"/>
      </c:catAx>
      <c:valAx>
        <c:axId val="76360437"/>
        <c:scaling>
          <c:orientation val="minMax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Rates</a:t>
                </a:r>
              </a:p>
            </c:rich>
          </c:tx>
          <c:overlay val="0"/>
        </c:title>
        <c:numFmt formatCode="0.00%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3451950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chemeClr val="tx1"/>
      </a:solidFill>
    </a:ln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Stylised volatility term structure</c:v>
                </c:pt>
              </c:strCache>
            </c:strRef>
          </c:tx>
          <c:spPr>
            <a:ln w="31680">
              <a:solidFill>
                <a:srgbClr val="20847C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0.00%</c:formatCode>
                <c:ptCount val="11"/>
                <c:pt idx="0">
                  <c:v>4.5000000000000005E-3</c:v>
                </c:pt>
                <c:pt idx="1">
                  <c:v>7.4999999999999997E-3</c:v>
                </c:pt>
                <c:pt idx="2">
                  <c:v>0.01</c:v>
                </c:pt>
                <c:pt idx="3">
                  <c:v>1.1200000000000002E-2</c:v>
                </c:pt>
                <c:pt idx="4">
                  <c:v>1.0500000000000001E-2</c:v>
                </c:pt>
                <c:pt idx="5">
                  <c:v>9.0000000000000011E-3</c:v>
                </c:pt>
                <c:pt idx="6">
                  <c:v>7.1999999999999998E-3</c:v>
                </c:pt>
                <c:pt idx="7">
                  <c:v>5.7999999999999996E-3</c:v>
                </c:pt>
                <c:pt idx="8">
                  <c:v>4.7999999999999996E-3</c:v>
                </c:pt>
                <c:pt idx="9">
                  <c:v>4.0000000000000001E-3</c:v>
                </c:pt>
                <c:pt idx="10">
                  <c:v>3.4000000000000002E-3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E4-434C-94D8-058C5B314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8205633"/>
        <c:axId val="4036290"/>
      </c:lineChart>
      <c:catAx>
        <c:axId val="820563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Maturity</a:t>
                </a:r>
                <a:r>
                  <a:rPr lang="en-US" baseline="0" dirty="0"/>
                  <a:t> in Years</a:t>
                </a:r>
                <a:endParaRPr lang="en-US" dirty="0"/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4036290"/>
        <c:crosses val="autoZero"/>
        <c:auto val="1"/>
        <c:lblAlgn val="ctr"/>
        <c:lblOffset val="100"/>
        <c:noMultiLvlLbl val="0"/>
      </c:catAx>
      <c:valAx>
        <c:axId val="4036290"/>
        <c:scaling>
          <c:orientation val="minMax"/>
          <c:min val="0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Volatility</a:t>
                </a:r>
              </a:p>
            </c:rich>
          </c:tx>
          <c:overlay val="0"/>
        </c:title>
        <c:numFmt formatCode="0.00%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8205633"/>
        <c:crosses val="autoZero"/>
        <c:crossBetween val="between"/>
      </c:valAx>
      <c:spPr>
        <a:noFill/>
        <a:ln w="0">
          <a:solidFill>
            <a:schemeClr val="tx1"/>
          </a:solidFill>
        </a:ln>
      </c:spPr>
    </c:plotArea>
    <c:plotVisOnly val="1"/>
    <c:dispBlanksAs val="span"/>
    <c:showDLblsOverMax val="1"/>
  </c:chart>
  <c:spPr>
    <a:noFill/>
    <a:ln w="0">
      <a:solidFill>
        <a:schemeClr val="tx1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Conventional yield curve</c:v>
                </c:pt>
              </c:strCache>
            </c:strRef>
          </c:tx>
          <c:spPr>
            <a:ln w="31680">
              <a:solidFill>
                <a:srgbClr val="3366AA"/>
              </a:solidFill>
              <a:round/>
            </a:ln>
          </c:spPr>
          <c:marker>
            <c:symbol val="circle"/>
            <c:size val="6"/>
            <c:spPr>
              <a:solidFill>
                <a:srgbClr val="3366AA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0.05</c:v>
                </c:pt>
                <c:pt idx="1">
                  <c:v>7.8E-2</c:v>
                </c:pt>
                <c:pt idx="2">
                  <c:v>0.10600000000000001</c:v>
                </c:pt>
                <c:pt idx="3">
                  <c:v>0.13400000000000001</c:v>
                </c:pt>
                <c:pt idx="4">
                  <c:v>0.16</c:v>
                </c:pt>
                <c:pt idx="5">
                  <c:v>0.184</c:v>
                </c:pt>
                <c:pt idx="6">
                  <c:v>0.20499999999999999</c:v>
                </c:pt>
                <c:pt idx="7">
                  <c:v>0.22400000000000003</c:v>
                </c:pt>
                <c:pt idx="8">
                  <c:v>0.24</c:v>
                </c:pt>
                <c:pt idx="9">
                  <c:v>0.255</c:v>
                </c:pt>
                <c:pt idx="10">
                  <c:v>0.26800000000000002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11-1241-AFAB-116DBE6F07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Forward-rate curve</c:v>
                </c:pt>
              </c:strCache>
            </c:strRef>
          </c:tx>
          <c:spPr>
            <a:ln w="31680">
              <a:solidFill>
                <a:srgbClr val="20847C"/>
              </a:solidFill>
              <a:round/>
            </a:ln>
          </c:spPr>
          <c:marker>
            <c:symbol val="circle"/>
            <c:size val="6"/>
            <c:spPr>
              <a:solidFill>
                <a:srgbClr val="20847C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0.05</c:v>
                </c:pt>
                <c:pt idx="1">
                  <c:v>0.10200000000000001</c:v>
                </c:pt>
                <c:pt idx="2">
                  <c:v>0.15</c:v>
                </c:pt>
                <c:pt idx="3">
                  <c:v>0.19500000000000001</c:v>
                </c:pt>
                <c:pt idx="4">
                  <c:v>0.23500000000000001</c:v>
                </c:pt>
                <c:pt idx="5">
                  <c:v>0.27</c:v>
                </c:pt>
                <c:pt idx="6">
                  <c:v>0.30199999999999999</c:v>
                </c:pt>
                <c:pt idx="7">
                  <c:v>0.32599999999999996</c:v>
                </c:pt>
                <c:pt idx="8">
                  <c:v>0.34500000000000003</c:v>
                </c:pt>
                <c:pt idx="9">
                  <c:v>0.36</c:v>
                </c:pt>
                <c:pt idx="10">
                  <c:v>0.372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11-1241-AFAB-116DBE6F0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63892687"/>
        <c:axId val="32578434"/>
      </c:lineChart>
      <c:catAx>
        <c:axId val="6389268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32578434"/>
        <c:crosses val="autoZero"/>
        <c:auto val="1"/>
        <c:lblAlgn val="ctr"/>
        <c:lblOffset val="100"/>
        <c:noMultiLvlLbl val="0"/>
      </c:catAx>
      <c:valAx>
        <c:axId val="32578434"/>
        <c:scaling>
          <c:orientation val="minMax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numFmt formatCode="0.00%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6389268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dirty="0" err="1"/>
              <a:t>Stylised</a:t>
            </a:r>
            <a:r>
              <a:rPr lang="en-US" dirty="0"/>
              <a:t> change in yield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Today's forward curve</c:v>
                </c:pt>
              </c:strCache>
            </c:strRef>
          </c:tx>
          <c:spPr>
            <a:ln w="31680">
              <a:solidFill>
                <a:srgbClr val="3366AA"/>
              </a:solidFill>
              <a:round/>
            </a:ln>
          </c:spPr>
          <c:marker>
            <c:symbol val="circle"/>
            <c:size val="6"/>
            <c:spPr>
              <a:solidFill>
                <a:srgbClr val="3366AA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0.00%</c:formatCode>
                <c:ptCount val="11"/>
                <c:pt idx="0">
                  <c:v>0.02</c:v>
                </c:pt>
                <c:pt idx="1">
                  <c:v>2.3934693402873665E-2</c:v>
                </c:pt>
                <c:pt idx="2">
                  <c:v>2.6321205588285577E-2</c:v>
                </c:pt>
                <c:pt idx="3">
                  <c:v>2.7768698398515701E-2</c:v>
                </c:pt>
                <c:pt idx="4">
                  <c:v>2.8646647167633873E-2</c:v>
                </c:pt>
                <c:pt idx="5">
                  <c:v>2.9179150013761011E-2</c:v>
                </c:pt>
                <c:pt idx="6">
                  <c:v>2.950212931632136E-2</c:v>
                </c:pt>
                <c:pt idx="7">
                  <c:v>2.9698026165776815E-2</c:v>
                </c:pt>
                <c:pt idx="8">
                  <c:v>2.9816843611112656E-2</c:v>
                </c:pt>
                <c:pt idx="9">
                  <c:v>2.9888910034617577E-2</c:v>
                </c:pt>
                <c:pt idx="10">
                  <c:v>2.9932620530009144E-2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D9-304E-9828-D438245697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Year's forward curve</c:v>
                </c:pt>
              </c:strCache>
            </c:strRef>
          </c:tx>
          <c:spPr>
            <a:ln w="31680">
              <a:solidFill>
                <a:srgbClr val="20847C"/>
              </a:solidFill>
              <a:round/>
            </a:ln>
          </c:spPr>
          <c:marker>
            <c:symbol val="circle"/>
            <c:size val="6"/>
            <c:spPr>
              <a:solidFill>
                <a:srgbClr val="20847C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Sheet1!$C$2:$C$12</c:f>
              <c:numCache>
                <c:formatCode>0.00%</c:formatCode>
                <c:ptCount val="11"/>
                <c:pt idx="0">
                  <c:v>7.1999999999999998E-3</c:v>
                </c:pt>
                <c:pt idx="1">
                  <c:v>1.1699999999999999E-2</c:v>
                </c:pt>
                <c:pt idx="2">
                  <c:v>1.5600000000000001E-2</c:v>
                </c:pt>
                <c:pt idx="3">
                  <c:v>1.9E-2</c:v>
                </c:pt>
                <c:pt idx="4">
                  <c:v>2.18E-2</c:v>
                </c:pt>
                <c:pt idx="5">
                  <c:v>2.4E-2</c:v>
                </c:pt>
                <c:pt idx="6">
                  <c:v>2.5600000000000001E-2</c:v>
                </c:pt>
                <c:pt idx="7">
                  <c:v>2.6800000000000001E-2</c:v>
                </c:pt>
                <c:pt idx="8">
                  <c:v>2.7699999999999999E-2</c:v>
                </c:pt>
                <c:pt idx="9">
                  <c:v>2.8399999999999998E-2</c:v>
                </c:pt>
                <c:pt idx="10">
                  <c:v>2.8900000000000002E-2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D9-304E-9828-D43824569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72096171"/>
        <c:axId val="50395617"/>
      </c:lineChart>
      <c:catAx>
        <c:axId val="7209617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Maturity in Years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50395617"/>
        <c:crosses val="autoZero"/>
        <c:auto val="1"/>
        <c:lblAlgn val="ctr"/>
        <c:lblOffset val="100"/>
        <c:noMultiLvlLbl val="0"/>
      </c:catAx>
      <c:valAx>
        <c:axId val="50395617"/>
        <c:scaling>
          <c:orientation val="minMax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Yields</a:t>
                </a:r>
              </a:p>
            </c:rich>
          </c:tx>
          <c:overlay val="0"/>
        </c:title>
        <c:numFmt formatCode="0.00%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ptos"/>
              </a:defRPr>
            </a:pPr>
            <a:endParaRPr lang="en-US"/>
          </a:p>
        </c:txPr>
        <c:crossAx val="7209617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noFill/>
    </a:ln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0.2105</cdr:x>
      <cdr:y>0.17235</cdr:y>
    </cdr:from>
    <cdr:to>
      <cdr:x>0.86419</cdr:x>
      <cdr:y>0.67546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6CE30F1D-B5F0-CD32-D84E-B4FF7B768FF5}"/>
            </a:ext>
          </a:extLst>
        </cdr:cNvPr>
        <cdr:cNvGrpSpPr/>
      </cdr:nvGrpSpPr>
      <cdr:grpSpPr>
        <a:xfrm xmlns:a="http://schemas.openxmlformats.org/drawingml/2006/main">
          <a:off x="1279950" y="764288"/>
          <a:ext cx="3974645" cy="2231012"/>
          <a:chOff x="1393072" y="609268"/>
          <a:chExt cx="3974645" cy="2231012"/>
        </a:xfrm>
      </cdr:grpSpPr>
      <cdr:sp macro="" textlink="">
        <cdr:nvSpPr>
          <cdr:cNvPr id="2" name="Down Arrow 1">
            <a:extLst xmlns:a="http://schemas.openxmlformats.org/drawingml/2006/main">
              <a:ext uri="{FF2B5EF4-FFF2-40B4-BE49-F238E27FC236}">
                <a16:creationId xmlns:a16="http://schemas.microsoft.com/office/drawing/2014/main" id="{FFD3FB9D-0C25-5472-52B2-5FFA2AA5DE70}"/>
              </a:ext>
            </a:extLst>
          </cdr:cNvPr>
          <cdr:cNvSpPr/>
        </cdr:nvSpPr>
        <cdr:spPr>
          <a:xfrm xmlns:a="http://schemas.openxmlformats.org/drawingml/2006/main" rot="10800000">
            <a:off x="5137608" y="609268"/>
            <a:ext cx="230109" cy="5894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solidFill>
              <a:schemeClr val="tx1"/>
            </a:solidFill>
          </a:ln>
        </cdr:spPr>
        <cdr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vertOverflow="clip"/>
          <a:lstStyle xmlns:a="http://schemas.openxmlformats.org/drawingml/2006/main"/>
          <a:p xmlns:a="http://schemas.openxmlformats.org/drawingml/2006/main">
            <a:endParaRPr lang="en-US" kern="1200" dirty="0"/>
          </a:p>
        </cdr:txBody>
      </cdr:sp>
      <cdr:sp macro="" textlink="">
        <cdr:nvSpPr>
          <cdr:cNvPr id="3" name="Down Arrow 2">
            <a:extLst xmlns:a="http://schemas.openxmlformats.org/drawingml/2006/main">
              <a:ext uri="{FF2B5EF4-FFF2-40B4-BE49-F238E27FC236}">
                <a16:creationId xmlns:a16="http://schemas.microsoft.com/office/drawing/2014/main" id="{00AA99BA-587E-C454-CCFA-B347D83BA3C4}"/>
              </a:ext>
            </a:extLst>
          </cdr:cNvPr>
          <cdr:cNvSpPr/>
        </cdr:nvSpPr>
        <cdr:spPr>
          <a:xfrm xmlns:a="http://schemas.openxmlformats.org/drawingml/2006/main" rot="10800000">
            <a:off x="3331327" y="1275860"/>
            <a:ext cx="230109" cy="5894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solidFill>
              <a:schemeClr val="tx1"/>
            </a:solidFill>
          </a:ln>
        </cdr:spPr>
        <cdr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/>
          <a:lstStyle xmlns:a="http://schemas.openxmlformats.org/drawingml/2006/main"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en-US" kern="1200" dirty="0"/>
          </a:p>
        </cdr:txBody>
      </cdr:sp>
      <cdr:sp macro="" textlink="">
        <cdr:nvSpPr>
          <cdr:cNvPr id="4" name="Down Arrow 3">
            <a:extLst xmlns:a="http://schemas.openxmlformats.org/drawingml/2006/main">
              <a:ext uri="{FF2B5EF4-FFF2-40B4-BE49-F238E27FC236}">
                <a16:creationId xmlns:a16="http://schemas.microsoft.com/office/drawing/2014/main" id="{309F0FDB-2D3E-77DC-638C-7EA51F335B78}"/>
              </a:ext>
            </a:extLst>
          </cdr:cNvPr>
          <cdr:cNvSpPr/>
        </cdr:nvSpPr>
        <cdr:spPr>
          <a:xfrm xmlns:a="http://schemas.openxmlformats.org/drawingml/2006/main" rot="10800000">
            <a:off x="1393072" y="2250840"/>
            <a:ext cx="230109" cy="5894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solidFill>
              <a:schemeClr val="tx1"/>
            </a:solidFill>
          </a:ln>
        </cdr:spPr>
        <cdr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/>
          <a:lstStyle xmlns:a="http://schemas.openxmlformats.org/drawingml/2006/main"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en-US" kern="1200" dirty="0"/>
          </a:p>
        </cdr:txBody>
      </cdr: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DD2CC1-3055-49D9-8512-7AC2C80CE1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A2E701-04C9-44AE-BE2B-6DB37C7414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DF64F0-7182-4FAB-902D-DBB5BB074B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9EA429-0494-40AB-9D75-F1576A50C9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EF89D1-64BE-4AE9-833C-14574B19C0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61D765-64AE-4C57-B5AC-5E2F8DC048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A2A55-EA6B-4573-A762-4FBE0838D4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45458-31AD-45DD-A132-11FEA1411E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14E99-B38B-4AB8-A639-283C9D3202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46B19-C0E8-40D7-A421-918096CDEB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AF4DE5-DCF9-4562-84EF-7FDDE28C2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105156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dirty="0">
                <a:solidFill>
                  <a:srgbClr val="17324D"/>
                </a:solidFill>
                <a:effectLst/>
                <a:uFillTx/>
                <a:latin typeface="Aptos"/>
              </a:rPr>
              <a:t>IRFR: A One-Factor Interest Rate Model</a:t>
            </a:r>
            <a:endParaRPr lang="en-US" sz="3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21720" y="178308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Motivated by risk, expectations, and rolling maturity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2395440"/>
            <a:ext cx="4846320" cy="360"/>
          </a:xfrm>
          <a:prstGeom prst="line">
            <a:avLst/>
          </a:prstGeom>
          <a:ln w="38100">
            <a:solidFill>
              <a:srgbClr val="2084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58440" y="278892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 personal route into the IRFR framework: from duration and parallel shifts, to volatility term structures, to the question of what rate object should be random.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58440" y="4892040"/>
            <a:ext cx="3245760" cy="712800"/>
          </a:xfrm>
          <a:prstGeom prst="roundRect">
            <a:avLst>
              <a:gd name="adj" fmla="val 10256"/>
            </a:avLst>
          </a:prstGeom>
          <a:solidFill>
            <a:srgbClr val="EEF5F4"/>
          </a:solidFill>
          <a:ln w="12700">
            <a:solidFill>
              <a:srgbClr val="B8D9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5029200"/>
            <a:ext cx="2916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Working-paper intuition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not a peer-reviewed claim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IRFR tutorial opening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Duration: a tractable first language for interest-rate risk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Parallel shifts are useful, but they compress the whole curve into one movement.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800" y="1582200"/>
            <a:ext cx="4480200" cy="1866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Duration turns curve risk into a single number.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That is powerful for first-order risk analysis.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But it effectively treats the curve as one functional object shifting in parallel.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Appealing — and incomplete.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1287153832"/>
              </p:ext>
            </p:extLst>
          </p:nvPr>
        </p:nvGraphicFramePr>
        <p:xfrm>
          <a:off x="5646656" y="1582200"/>
          <a:ext cx="6080400" cy="443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5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Stylised curves for intuition, not calibration.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17324D"/>
                </a:solidFill>
                <a:latin typeface="Aptos Display"/>
                <a:ea typeface="Aptos Display"/>
              </a:rPr>
              <a:t>V</a:t>
            </a:r>
            <a:r>
              <a:rPr lang="en-US" sz="2800" b="1" u="none" strike="noStrike" dirty="0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olatility </a:t>
            </a:r>
            <a:r>
              <a:rPr lang="en-US" sz="2800" b="1" dirty="0">
                <a:solidFill>
                  <a:srgbClr val="17324D"/>
                </a:solidFill>
                <a:latin typeface="Aptos Display"/>
                <a:ea typeface="Aptos Display"/>
              </a:rPr>
              <a:t>T</a:t>
            </a:r>
            <a:r>
              <a:rPr lang="en-US" sz="2800" b="1" u="none" strike="noStrike" dirty="0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erm </a:t>
            </a:r>
            <a:r>
              <a:rPr lang="en-US" sz="2800" b="1" dirty="0">
                <a:solidFill>
                  <a:srgbClr val="17324D"/>
                </a:solidFill>
                <a:latin typeface="Aptos Display"/>
                <a:ea typeface="Aptos Display"/>
              </a:rPr>
              <a:t>S</a:t>
            </a:r>
            <a:r>
              <a:rPr lang="en-US" sz="2800" b="1" u="none" strike="noStrike" dirty="0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tructure: More Complex </a:t>
            </a:r>
            <a:r>
              <a:rPr lang="en-US" sz="2800" b="1" dirty="0">
                <a:solidFill>
                  <a:srgbClr val="17324D"/>
                </a:solidFill>
                <a:latin typeface="Aptos Display"/>
                <a:ea typeface="Aptos Display"/>
              </a:rPr>
              <a:t>R</a:t>
            </a:r>
            <a:r>
              <a:rPr lang="en-US" sz="2800" b="1" u="none" strike="noStrike" dirty="0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elationship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Different maturities do not usually carry the same local uncertainty.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685800" y="1668905"/>
            <a:ext cx="4480200" cy="2148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Interest-rate volatility is often maturity-dependent.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It may peak away from the very short end.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That suggests more structure than a simple parallel-shift picture.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0" u="none" strike="noStrike" dirty="0">
                <a:solidFill>
                  <a:srgbClr val="111827"/>
                </a:solidFill>
                <a:effectLst/>
                <a:uFillTx/>
                <a:latin typeface="Aptos"/>
              </a:rPr>
              <a:t>The puzzle: can this happen naturally in a one factor model?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/>
              </a:rPr>
              <a:t>Only possible for non stationary states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1555111026"/>
              </p:ext>
            </p:extLst>
          </p:nvPr>
        </p:nvGraphicFramePr>
        <p:xfrm>
          <a:off x="6080580" y="1668905"/>
          <a:ext cx="5757061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5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The humped shape is a motif returned to later in the presentation.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Expectations theory: appealing, but incomplete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The curve seems to say something about future rates, but risk cannot be ignored.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685800" y="1143000"/>
            <a:ext cx="438876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Classical expectations theory says forward rates contain information about future short rates.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That intuition is appealing.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But risk premia, liquidity, policy and institutional effects also matter.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The aim is to preserve the intuition without pretending risk is absent.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Chart 0"/>
          <p:cNvGraphicFramePr/>
          <p:nvPr>
            <p:extLst>
              <p:ext uri="{D42A27DB-BD31-4B8C-83A1-F6EECF244321}">
                <p14:modId xmlns:p14="http://schemas.microsoft.com/office/powerpoint/2010/main" val="2232877290"/>
              </p:ext>
            </p:extLst>
          </p:nvPr>
        </p:nvGraphicFramePr>
        <p:xfrm>
          <a:off x="5440680" y="960120"/>
          <a:ext cx="621756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"/>
          <p:cNvSpPr/>
          <p:nvPr/>
        </p:nvSpPr>
        <p:spPr>
          <a:xfrm>
            <a:off x="7616880" y="5513760"/>
            <a:ext cx="3419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Time to maturity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513760" y="128016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Rate (% p.a.)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Both curves are stylised. The point is the distinction between averaged yields and forwards.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The question that follows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822960" y="1143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Can one framework connect curve shape, risk and rolling maturity?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822960" y="2331720"/>
            <a:ext cx="3108600" cy="10969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D7DC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987480" y="2468880"/>
            <a:ext cx="27795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tractable risk, but parallel shifts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4480560" y="2331720"/>
            <a:ext cx="3108600" cy="109692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12700">
            <a:solidFill>
              <a:srgbClr val="B8D9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4645080" y="2468880"/>
            <a:ext cx="27795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Volatility term 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maturity-specific risk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8138160" y="2331720"/>
            <a:ext cx="3108600" cy="109692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1C89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8302680" y="2468880"/>
            <a:ext cx="27795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77A1E"/>
                </a:solidFill>
                <a:effectLst/>
                <a:uFillTx/>
                <a:latin typeface="Aptos"/>
              </a:rPr>
              <a:t>Expectations intuition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77A1E"/>
                </a:solidFill>
                <a:effectLst/>
                <a:uFillTx/>
                <a:latin typeface="Aptos"/>
              </a:rPr>
              <a:t>curve shape should matter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3977640" y="2633400"/>
            <a:ext cx="319680" cy="41112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7635240" y="2633400"/>
            <a:ext cx="319680" cy="41112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1143000" y="448056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That question leads to the choice of random variable.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From motivation to modelling primitive.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2"/>
              <p:cNvSpPr/>
              <p:nvPr/>
            </p:nvSpPr>
            <p:spPr>
              <a:xfrm>
                <a:off x="6675120" y="1234440"/>
                <a:ext cx="2011320" cy="502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1" i="1" u="none" strike="noStrike" dirty="0" smtClean="0">
                          <a:solidFill>
                            <a:srgbClr val="20847C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sz="3400" b="1" i="1" u="none" strike="noStrike" dirty="0" smtClean="0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1" i="1" u="none" strike="noStrike" dirty="0" smtClean="0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400" b="1" i="1" u="none" strike="noStrike" dirty="0" smtClean="0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0" y="1234440"/>
                <a:ext cx="2011320" cy="502560"/>
              </a:xfrm>
              <a:prstGeom prst="rect">
                <a:avLst/>
              </a:prstGeom>
              <a:blipFill>
                <a:blip r:embed="rId3"/>
                <a:stretch>
                  <a:fillRect t="-30000" b="-55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6F6CC7-B191-5A21-542C-076BB7A5972D}"/>
                  </a:ext>
                </a:extLst>
              </p:cNvPr>
              <p:cNvSpPr txBox="1"/>
              <p:nvPr/>
            </p:nvSpPr>
            <p:spPr>
              <a:xfrm>
                <a:off x="6096000" y="3345198"/>
                <a:ext cx="4557723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0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0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0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6F6CC7-B191-5A21-542C-076BB7A59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45198"/>
                <a:ext cx="4557723" cy="289182"/>
              </a:xfrm>
              <a:prstGeom prst="rect">
                <a:avLst/>
              </a:prstGeom>
              <a:blipFill>
                <a:blip r:embed="rId4"/>
                <a:stretch>
                  <a:fillRect l="-278" t="-8333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Slide6WhiteCov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What Random Variable to use?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modelling primitive should have financial meaning, not just mathematical convenience.</a:t>
            </a:r>
          </a:p>
        </p:txBody>
      </p:sp>
      <p:sp>
        <p:nvSpPr>
          <p:cNvPr id="54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lide6Body"/>
          <p:cNvSpPr txBox="1"/>
          <p:nvPr/>
        </p:nvSpPr>
        <p:spPr>
          <a:xfrm>
            <a:off x="640080" y="1234440"/>
            <a:ext cx="548640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0">
                <a:solidFill>
                  <a:srgbClr val="121826"/>
                </a:solidFill>
                <a:latin typeface="Aptos"/>
              </a:rPr>
              <a:t>In Black-Scholes, the stock price is natural because its change creates P&amp;L.</a:t>
            </a:r>
          </a:p>
          <a:p>
            <a:pPr algn="l"/>
            <a:r>
              <a:rPr sz="1500" b="0">
                <a:solidFill>
                  <a:srgbClr val="121826"/>
                </a:solidFill>
                <a:latin typeface="Aptos"/>
              </a:rPr>
              <a:t>For rates, the analogous object is less obvious.</a:t>
            </a:r>
          </a:p>
          <a:p>
            <a:pPr algn="l"/>
            <a:r>
              <a:rPr sz="1500" b="0">
                <a:solidFill>
                  <a:srgbClr val="121826"/>
                </a:solidFill>
                <a:latin typeface="Aptos"/>
              </a:rPr>
              <a:t>Possible objects include:</a:t>
            </a:r>
          </a:p>
        </p:txBody>
      </p:sp>
      <p:sp>
        <p:nvSpPr>
          <p:cNvPr id="56" name="ChoicePanel"/>
          <p:cNvSpPr/>
          <p:nvPr/>
        </p:nvSpPr>
        <p:spPr>
          <a:xfrm>
            <a:off x="822960" y="2359152"/>
            <a:ext cx="306324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hoiceList"/>
          <p:cNvSpPr txBox="1"/>
          <p:nvPr/>
        </p:nvSpPr>
        <p:spPr>
          <a:xfrm>
            <a:off x="1005840" y="2514600"/>
            <a:ext cx="2697480" cy="11704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short rates</a:t>
            </a:r>
          </a:p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yields</a:t>
            </a:r>
          </a:p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forwards</a:t>
            </a:r>
          </a:p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bond prices</a:t>
            </a:r>
          </a:p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rolling forwards</a:t>
            </a:r>
          </a:p>
        </p:txBody>
      </p:sp>
      <p:sp>
        <p:nvSpPr>
          <p:cNvPr id="58" name="Slide6Payoff"/>
          <p:cNvSpPr txBox="1"/>
          <p:nvPr/>
        </p:nvSpPr>
        <p:spPr>
          <a:xfrm>
            <a:off x="640080" y="4160520"/>
            <a:ext cx="5532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The choice is not cosmetic - it determines the financial meaning of the model.</a:t>
            </a:r>
          </a:p>
          <a:p>
            <a:pPr algn="l"/>
            <a:endParaRPr sz="145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450" b="0">
                <a:solidFill>
                  <a:srgbClr val="121826"/>
                </a:solidFill>
                <a:latin typeface="Aptos"/>
              </a:rPr>
              <a:t>The IRFR is chosen for financial meaning, not novelty.</a:t>
            </a:r>
          </a:p>
        </p:txBody>
      </p:sp>
      <p:sp>
        <p:nvSpPr>
          <p:cNvPr id="59" name="StockPanel"/>
          <p:cNvSpPr/>
          <p:nvPr/>
        </p:nvSpPr>
        <p:spPr>
          <a:xfrm>
            <a:off x="6629400" y="1417320"/>
            <a:ext cx="20116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StockTitle"/>
          <p:cNvSpPr txBox="1"/>
          <p:nvPr/>
        </p:nvSpPr>
        <p:spPr>
          <a:xfrm>
            <a:off x="6812280" y="1572768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50" b="1">
                <a:solidFill>
                  <a:srgbClr val="17324D"/>
                </a:solidFill>
                <a:latin typeface="Aptos"/>
              </a:rPr>
              <a:t>For Stock Prices</a:t>
            </a:r>
          </a:p>
        </p:txBody>
      </p:sp>
      <p:sp>
        <p:nvSpPr>
          <p:cNvPr id="61" name="StockText"/>
          <p:cNvSpPr txBox="1"/>
          <p:nvPr/>
        </p:nvSpPr>
        <p:spPr>
          <a:xfrm>
            <a:off x="6812280" y="1874519"/>
            <a:ext cx="164592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00" b="0">
                <a:solidFill>
                  <a:srgbClr val="121826"/>
                </a:solidFill>
                <a:latin typeface="Aptos"/>
              </a:rPr>
              <a:t>stock-price change</a:t>
            </a:r>
          </a:p>
          <a:p>
            <a:pPr algn="ctr"/>
            <a:r>
              <a:rPr sz="1200" b="0">
                <a:solidFill>
                  <a:srgbClr val="121826"/>
                </a:solidFill>
                <a:latin typeface="Aptos"/>
              </a:rPr>
              <a:t>creates trading P&amp;L</a:t>
            </a:r>
          </a:p>
        </p:txBody>
      </p:sp>
      <p:sp>
        <p:nvSpPr>
          <p:cNvPr id="62" name="RatesPanel"/>
          <p:cNvSpPr/>
          <p:nvPr/>
        </p:nvSpPr>
        <p:spPr>
          <a:xfrm>
            <a:off x="9281160" y="1417320"/>
            <a:ext cx="205740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atesTitle"/>
          <p:cNvSpPr txBox="1"/>
          <p:nvPr/>
        </p:nvSpPr>
        <p:spPr>
          <a:xfrm>
            <a:off x="9464040" y="1572768"/>
            <a:ext cx="169164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50" b="1">
                <a:solidFill>
                  <a:srgbClr val="17324D"/>
                </a:solidFill>
                <a:latin typeface="Aptos"/>
              </a:rPr>
              <a:t>For interest rates:</a:t>
            </a:r>
          </a:p>
        </p:txBody>
      </p:sp>
      <p:sp>
        <p:nvSpPr>
          <p:cNvPr id="64" name="RatesText"/>
          <p:cNvSpPr txBox="1"/>
          <p:nvPr/>
        </p:nvSpPr>
        <p:spPr>
          <a:xfrm>
            <a:off x="9464040" y="1874519"/>
            <a:ext cx="16916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00" b="0">
                <a:solidFill>
                  <a:srgbClr val="121826"/>
                </a:solidFill>
                <a:latin typeface="Aptos"/>
              </a:rPr>
              <a:t>the rolling forward</a:t>
            </a:r>
          </a:p>
          <a:p>
            <a:pPr algn="ctr"/>
            <a:r>
              <a:rPr sz="1200" b="0">
                <a:solidFill>
                  <a:srgbClr val="121826"/>
                </a:solidFill>
                <a:latin typeface="Aptos"/>
              </a:rPr>
              <a:t>exposure is the object</a:t>
            </a:r>
          </a:p>
        </p:txBody>
      </p:sp>
      <p:sp>
        <p:nvSpPr>
          <p:cNvPr id="65" name="Slide6FormulaPanel"/>
          <p:cNvSpPr/>
          <p:nvPr/>
        </p:nvSpPr>
        <p:spPr>
          <a:xfrm>
            <a:off x="6629400" y="3154680"/>
            <a:ext cx="4709160" cy="64008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Slide6FormulaText"/>
          <p:cNvSpPr txBox="1"/>
          <p:nvPr/>
        </p:nvSpPr>
        <p:spPr>
          <a:xfrm>
            <a:off x="6757416" y="3264408"/>
            <a:ext cx="4453128" cy="420623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121826"/>
                </a:solidFill>
                <a:latin typeface="Aptos"/>
              </a:rPr>
              <a:t>primitive choice -&gt; meaning of dx -&gt; meaning of risk and return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The problem with static rate objects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For interest rates, maturity is not just a label — it moves.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777240" y="1143000"/>
            <a:ext cx="52117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 fixed maturity date rolls toward the present.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 five-year exposure today is not a five-year exposure tomorrow.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If a variable does not roll naturally, its instantaneous change need not represent the return of the exposure of interest.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This risks confusing cross-sectional curve shape with financial return.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3"/>
              <p:cNvSpPr/>
              <p:nvPr/>
            </p:nvSpPr>
            <p:spPr>
              <a:xfrm>
                <a:off x="6766560" y="1417320"/>
                <a:ext cx="3291480" cy="54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1" i="1" u="none" strike="noStrike" dirty="0" smtClean="0">
                          <a:solidFill>
                            <a:srgbClr val="17324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sz="3400" b="1" i="1" u="none" strike="noStrike" dirty="0">
                          <a:solidFill>
                            <a:srgbClr val="17324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400" b="1" i="1" u="none" strike="noStrike" dirty="0">
                          <a:solidFill>
                            <a:srgbClr val="17324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3400" b="1" i="1" u="none" strike="noStrike" dirty="0">
                          <a:solidFill>
                            <a:srgbClr val="17324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3400" b="1" i="1" u="none" strike="noStrike" dirty="0">
                          <a:solidFill>
                            <a:srgbClr val="17324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0" y="1417320"/>
                <a:ext cx="3291480" cy="548280"/>
              </a:xfrm>
              <a:prstGeom prst="rect">
                <a:avLst/>
              </a:prstGeom>
              <a:blipFill>
                <a:blip r:embed="rId3"/>
                <a:stretch>
                  <a:fillRect t="-20455" b="-4545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4"/>
          <p:cNvSpPr/>
          <p:nvPr/>
        </p:nvSpPr>
        <p:spPr>
          <a:xfrm>
            <a:off x="6355080" y="214884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as calendar time advances,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remaining maturity shortens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6537960" y="3657600"/>
            <a:ext cx="3383280" cy="360"/>
          </a:xfrm>
          <a:prstGeom prst="line">
            <a:avLst/>
          </a:prstGeom>
          <a:ln w="38100">
            <a:solidFill>
              <a:srgbClr val="20847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6355080" y="38588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today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9281160" y="38588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tomorrow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6858000" y="43434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same maturity date,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shorter remaining 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This is the motivation for using a rolling object.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The breakthrough: use a rolling forward-rate object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731520" y="1097280"/>
            <a:ext cx="530316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The IRFR is written x_{t,T}.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It is indexed by calendar time and maturity 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As time advances, remaining maturity rolls down automatically.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Its instantaneous change is tied to the change in value of the infinitesimal forward-rate exposure.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2"/>
              <p:cNvSpPr/>
              <p:nvPr/>
            </p:nvSpPr>
            <p:spPr>
              <a:xfrm>
                <a:off x="6812280" y="1188720"/>
                <a:ext cx="3108600" cy="54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0" b="1" i="1" u="none" strike="noStrike" dirty="0" smtClean="0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0" b="1" i="1" u="none" strike="noStrike" dirty="0" smtClean="0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800" b="1" i="1" u="none" strike="noStrike" dirty="0" err="1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3800" b="1" i="1" u="none" strike="noStrike" dirty="0" err="1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800" b="1" i="1" u="none" strike="noStrike" dirty="0" err="1">
                              <a:solidFill>
                                <a:srgbClr val="20847C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7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280" y="1188720"/>
                <a:ext cx="3108600" cy="548280"/>
              </a:xfrm>
              <a:prstGeom prst="rect">
                <a:avLst/>
              </a:prstGeom>
              <a:blipFill>
                <a:blip r:embed="rId3"/>
                <a:stretch>
                  <a:fillRect t="-29545" b="-5454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3"/>
              <p:cNvSpPr/>
              <p:nvPr/>
            </p:nvSpPr>
            <p:spPr>
              <a:xfrm>
                <a:off x="6126480" y="2057400"/>
                <a:ext cx="4480200" cy="914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− (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b="0" i="1" u="none" strike="noStrike" dirty="0" smtClean="0">
                          <a:solidFill>
                            <a:srgbClr val="111827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/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/>
              </a:p>
            </p:txBody>
          </p:sp>
        </mc:Choice>
        <mc:Fallback xmlns="">
          <p:sp>
            <p:nvSpPr>
              <p:cNvPr id="68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057400"/>
                <a:ext cx="4480200" cy="914040"/>
              </a:xfrm>
              <a:prstGeom prst="rect">
                <a:avLst/>
              </a:prstGeom>
              <a:blipFill>
                <a:blip r:embed="rId4"/>
                <a:stretch>
                  <a:fillRect t="-1389" b="-972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Shape 4"/>
          <p:cNvSpPr/>
          <p:nvPr/>
        </p:nvSpPr>
        <p:spPr>
          <a:xfrm>
            <a:off x="6309360" y="3977640"/>
            <a:ext cx="4205880" cy="1005480"/>
          </a:xfrm>
          <a:prstGeom prst="roundRect">
            <a:avLst>
              <a:gd name="adj" fmla="val 7273"/>
            </a:avLst>
          </a:prstGeom>
          <a:solidFill>
            <a:srgbClr val="EEF5F4"/>
          </a:solidFill>
          <a:ln w="12700">
            <a:solidFill>
              <a:srgbClr val="B8D9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6473880" y="4114800"/>
            <a:ext cx="38768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The roll is not a technical complication.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It is the financial object.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The IRFR behaves like a financial exposure rather than a static curve label.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HJM forwards and the IRFR: same starting point, different roll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6B7280"/>
                </a:solidFill>
                <a:effectLst/>
                <a:uFillTx/>
                <a:latin typeface="Aptos"/>
              </a:rPr>
              <a:t>One graph, two ways of following a forward-rate exposure from today to next year.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Chart 0"/>
          <p:cNvGraphicFramePr/>
          <p:nvPr>
            <p:extLst>
              <p:ext uri="{D42A27DB-BD31-4B8C-83A1-F6EECF244321}">
                <p14:modId xmlns:p14="http://schemas.microsoft.com/office/powerpoint/2010/main" val="1082821621"/>
              </p:ext>
            </p:extLst>
          </p:nvPr>
        </p:nvGraphicFramePr>
        <p:xfrm>
          <a:off x="777240" y="1325880"/>
          <a:ext cx="6491880" cy="452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8835927A-A097-BAC5-F32D-BB0D4B068DBF}"/>
              </a:ext>
            </a:extLst>
          </p:cNvPr>
          <p:cNvGrpSpPr/>
          <p:nvPr/>
        </p:nvGrpSpPr>
        <p:grpSpPr>
          <a:xfrm>
            <a:off x="2672321" y="2128517"/>
            <a:ext cx="8638519" cy="2407056"/>
            <a:chOff x="2672321" y="2128517"/>
            <a:chExt cx="8638519" cy="2407056"/>
          </a:xfrm>
        </p:grpSpPr>
        <p:sp>
          <p:nvSpPr>
            <p:cNvPr id="77" name="Shape 4"/>
            <p:cNvSpPr/>
            <p:nvPr/>
          </p:nvSpPr>
          <p:spPr>
            <a:xfrm flipH="1">
              <a:off x="4326899" y="2308748"/>
              <a:ext cx="9428" cy="443879"/>
            </a:xfrm>
            <a:prstGeom prst="line">
              <a:avLst/>
            </a:prstGeom>
            <a:ln w="38100">
              <a:solidFill>
                <a:srgbClr val="C77A1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 5"/>
            <p:cNvSpPr/>
            <p:nvPr/>
          </p:nvSpPr>
          <p:spPr>
            <a:xfrm>
              <a:off x="7653600" y="2128517"/>
              <a:ext cx="3657240" cy="77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9999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C77A1E"/>
                  </a:solidFill>
                  <a:effectLst/>
                  <a:uFillTx/>
                  <a:latin typeface="Aptos"/>
                </a:rPr>
                <a:t>HJM object: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C77A1E"/>
                  </a:solidFill>
                  <a:effectLst/>
                  <a:uFillTx/>
                  <a:latin typeface="Aptos"/>
                </a:rPr>
                <a:t>fixed maturity date on nex</a:t>
              </a:r>
              <a:r>
                <a:rPr lang="en-US" sz="1700" b="1" dirty="0">
                  <a:solidFill>
                    <a:srgbClr val="C77A1E"/>
                  </a:solidFill>
                  <a:latin typeface="Aptos"/>
                </a:rPr>
                <a:t>t year’s</a:t>
              </a:r>
              <a:r>
                <a:rPr lang="en-US" sz="1700" b="1" u="none" strike="noStrike" dirty="0">
                  <a:solidFill>
                    <a:srgbClr val="C77A1E"/>
                  </a:solidFill>
                  <a:effectLst/>
                  <a:uFillTx/>
                  <a:latin typeface="Aptos"/>
                </a:rPr>
                <a:t> curve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Shape 6"/>
            <p:cNvSpPr/>
            <p:nvPr/>
          </p:nvSpPr>
          <p:spPr>
            <a:xfrm flipH="1">
              <a:off x="4336326" y="2448475"/>
              <a:ext cx="3280057" cy="68481"/>
            </a:xfrm>
            <a:prstGeom prst="line">
              <a:avLst/>
            </a:prstGeom>
            <a:ln w="25400">
              <a:solidFill>
                <a:srgbClr val="C77A1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Shape 7"/>
            <p:cNvSpPr/>
            <p:nvPr/>
          </p:nvSpPr>
          <p:spPr>
            <a:xfrm flipH="1">
              <a:off x="3836713" y="2286701"/>
              <a:ext cx="490186" cy="673315"/>
            </a:xfrm>
            <a:prstGeom prst="line">
              <a:avLst/>
            </a:prstGeom>
            <a:ln w="38100">
              <a:solidFill>
                <a:srgbClr val="A23A8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 8"/>
            <p:cNvSpPr/>
            <p:nvPr/>
          </p:nvSpPr>
          <p:spPr>
            <a:xfrm>
              <a:off x="2672321" y="3758693"/>
              <a:ext cx="2801646" cy="77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9999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A23A8C"/>
                  </a:solidFill>
                  <a:effectLst/>
                  <a:uFillTx/>
                  <a:latin typeface="Aptos"/>
                </a:rPr>
                <a:t>IRFR object: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A23A8C"/>
                  </a:solidFill>
                  <a:effectLst/>
                  <a:uFillTx/>
                  <a:latin typeface="Aptos"/>
                </a:rPr>
                <a:t>same maturity date, shorter remaining maturity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Shape 9"/>
          <p:cNvSpPr/>
          <p:nvPr/>
        </p:nvSpPr>
        <p:spPr>
          <a:xfrm flipH="1" flipV="1">
            <a:off x="4064482" y="2655865"/>
            <a:ext cx="17324" cy="1102108"/>
          </a:xfrm>
          <a:prstGeom prst="line">
            <a:avLst/>
          </a:prstGeom>
          <a:ln w="25400">
            <a:solidFill>
              <a:srgbClr val="A23A8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7635240" y="4800600"/>
            <a:ext cx="3840120" cy="86832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7DC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7799760" y="4937760"/>
            <a:ext cx="351108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Both arrows start from the same forward rate today.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The IRFR follows the roll in remaining maturity.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Stylised diagram: HJM emphasizes the forward curve; the IRFR emphasizes the rolling exposure.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0292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Why write the model through the KFE?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685800" y="9144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The SDE is useful, but the KFE makes the distributional structure visible.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85800" y="1188720"/>
            <a:ext cx="512028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The SDE describes paths.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The Kolmogorov Forward Equation describes the evolution of densities.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It is natural for expectation and variance calculations.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Most importantly, it lets the equilibrium density be solved explicitly.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6492240" y="10789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KFE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6080760" y="187452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density evolution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→ moments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→ equilibrium PDE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→ shifted inverse-gamma law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6309360" y="4526280"/>
            <a:ext cx="4160160" cy="868320"/>
          </a:xfrm>
          <a:prstGeom prst="roundRect">
            <a:avLst>
              <a:gd name="adj" fmla="val 8421"/>
            </a:avLst>
          </a:prstGeom>
          <a:solidFill>
            <a:srgbClr val="EEF5F4"/>
          </a:solidFill>
          <a:ln w="12700">
            <a:solidFill>
              <a:srgbClr val="B8D9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6473880" y="4663440"/>
            <a:ext cx="3831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The KFE is not just notation.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847C"/>
                </a:solidFill>
                <a:effectLst/>
                <a:uFillTx/>
                <a:latin typeface="Aptos"/>
              </a:rPr>
              <a:t>It is how the equilibrium law is found.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48640" y="644652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8F98"/>
                </a:solidFill>
                <a:effectLst/>
                <a:uFillTx/>
                <a:latin typeface="Aptos"/>
              </a:rPr>
              <a:t>The next section walks through the formal statements of the paper.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ptos Display"/>
              </a:rPr>
              <a:t>Axioms: minimal assumptions after choosing the primitive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303520" cy="310896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The axioms should now feel earned, not imposed.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850" b="0">
                <a:solidFill>
                  <a:srgbClr val="8A8F98"/>
                </a:solidFill>
                <a:latin typeface="Aptos"/>
              </a:rPr>
              <a:t>From primitive choice to formal modelling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00600" cy="420624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Aptos"/>
              </a:rPr>
              <a:t>We have motivated the IRFR as the rolling object whose infinitesimal change has financial meaning.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Aptos"/>
              </a:rPr>
              <a:t>The axioms now ask a narrower question: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Aptos"/>
              </a:rPr>
              <a:t>What minimal structure should this object satisfy so that risk, expectation and equilibrium can be investigated?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Aptos"/>
              </a:rPr>
              <a:t>They are not assumptions about a static curve label. They are assumptions about the dynamics of the rolling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452628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261872"/>
            <a:ext cx="164592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1">
                <a:solidFill>
                  <a:srgbClr val="20847C"/>
                </a:solidFill>
                <a:latin typeface="Aptos"/>
              </a:rPr>
              <a:t>Chosen 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16152"/>
            <a:ext cx="2377440" cy="34747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x_{t,T}  with  tau = T - 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66760" y="2029968"/>
            <a:ext cx="0" cy="393192"/>
          </a:xfrm>
          <a:prstGeom prst="line">
            <a:avLst/>
          </a:prstGeom>
          <a:ln w="3175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2468880"/>
            <a:ext cx="4160520" cy="71323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2578608"/>
            <a:ext cx="178308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1">
                <a:solidFill>
                  <a:srgbClr val="20847C"/>
                </a:solidFill>
                <a:latin typeface="Aptos"/>
              </a:rPr>
              <a:t>Axiom 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2578608"/>
            <a:ext cx="2057400" cy="329184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local stochastic behaviour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3218688"/>
            <a:ext cx="0" cy="274320"/>
          </a:xfrm>
          <a:prstGeom prst="line">
            <a:avLst/>
          </a:prstGeom>
          <a:ln w="2540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3456432"/>
            <a:ext cx="4160520" cy="71323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566160"/>
            <a:ext cx="178308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1">
                <a:solidFill>
                  <a:srgbClr val="20847C"/>
                </a:solidFill>
                <a:latin typeface="Aptos"/>
              </a:rPr>
              <a:t>Axiom 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3566160"/>
            <a:ext cx="2057400" cy="329184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admissible probability structure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4206240"/>
            <a:ext cx="0" cy="274320"/>
          </a:xfrm>
          <a:prstGeom prst="line">
            <a:avLst/>
          </a:prstGeom>
          <a:ln w="2540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4443984"/>
            <a:ext cx="4160520" cy="71323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4553712"/>
            <a:ext cx="178308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1">
                <a:solidFill>
                  <a:srgbClr val="20847C"/>
                </a:solidFill>
                <a:latin typeface="Aptos"/>
              </a:rPr>
              <a:t>Axiom 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553712"/>
            <a:ext cx="2057400" cy="329184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equilibrium consistency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5468112"/>
            <a:ext cx="4160520" cy="67665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5577840"/>
            <a:ext cx="3703320" cy="34747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400" b="1">
                <a:solidFill>
                  <a:srgbClr val="9A3412"/>
                </a:solidFill>
                <a:latin typeface="Aptos"/>
              </a:rPr>
              <a:t>The point is discipline: the model is built around the rolling financial object.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ptos Display"/>
              </a:rPr>
              <a:t>The axioms as modelling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303520" cy="310896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Each axiom answers a different modelling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850" b="0">
                <a:solidFill>
                  <a:srgbClr val="8A8F98"/>
                </a:solidFill>
                <a:latin typeface="Aptos"/>
              </a:rPr>
              <a:t>Axioms first; heuristic proof instinct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4892040" cy="48463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Axiom 1: specify how the IRFR moves locally.</a:t>
            </a:r>
          </a:p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This is the dynamic input: drift, volatility and the rolling maturity variable.</a:t>
            </a:r>
          </a:p>
          <a:p>
            <a:pPr>
              <a:spcAft>
                <a:spcPts val="400"/>
              </a:spcAft>
            </a:pPr>
            <a:endParaRPr sz="1650">
              <a:solidFill>
                <a:srgbClr val="111827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Axiom 2: require a well-behaved distributional object.</a:t>
            </a:r>
          </a:p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The KFE must be meaningful for expectations, variance and density evolution.</a:t>
            </a:r>
          </a:p>
          <a:p>
            <a:pPr>
              <a:spcAft>
                <a:spcPts val="400"/>
              </a:spcAft>
            </a:pPr>
            <a:endParaRPr sz="1650">
              <a:solidFill>
                <a:srgbClr val="111827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Axiom 3: impose an equilibrium condition.</a:t>
            </a:r>
          </a:p>
          <a:p>
            <a:pPr>
              <a:spcAft>
                <a:spcPts val="400"/>
              </a:spcAft>
            </a:pPr>
            <a:r>
              <a:rPr sz="1650">
                <a:solidFill>
                  <a:srgbClr val="111827"/>
                </a:solidFill>
                <a:latin typeface="Aptos"/>
              </a:rPr>
              <a:t>In equilibrium, the density should stop evolving in calendar time, leaving a PDE in the maturity / rate variables.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170432"/>
            <a:ext cx="461772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7648" y="1316736"/>
            <a:ext cx="1828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500" b="1">
                <a:solidFill>
                  <a:srgbClr val="20847C"/>
                </a:solidFill>
                <a:latin typeface="Aptos"/>
              </a:rPr>
              <a:t>1.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700784"/>
            <a:ext cx="38862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dx = drift dt + diffusion dW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606040"/>
            <a:ext cx="461772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2752344"/>
            <a:ext cx="1828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500" b="1">
                <a:solidFill>
                  <a:srgbClr val="20847C"/>
                </a:solidFill>
                <a:latin typeface="Aptos"/>
              </a:rPr>
              <a:t>2.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136392"/>
            <a:ext cx="38862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p(x, t, T) evolves by KFE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041648"/>
            <a:ext cx="461772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4187952"/>
            <a:ext cx="1828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500" b="1">
                <a:solidFill>
                  <a:srgbClr val="20847C"/>
                </a:solidFill>
                <a:latin typeface="Aptos"/>
              </a:rPr>
              <a:t>3. Equilibrium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572000"/>
            <a:ext cx="38862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partial_t p = 0  -&gt;  equilibrium PDE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94192" y="2212848"/>
            <a:ext cx="0" cy="292608"/>
          </a:xfrm>
          <a:prstGeom prst="line">
            <a:avLst/>
          </a:prstGeom>
          <a:ln w="2540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94192" y="3648456"/>
            <a:ext cx="0" cy="292607"/>
          </a:xfrm>
          <a:prstGeom prst="line">
            <a:avLst/>
          </a:prstGeom>
          <a:ln w="2540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5413248"/>
            <a:ext cx="4160520" cy="6675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5522976"/>
            <a:ext cx="3703320" cy="34747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This is why the proofs should start after the axioms: the proof is then solving the structure we have just imposed.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ptos Display"/>
              </a:rPr>
              <a:t>The equilibrium axiom links back to expectations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303520" cy="310896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The opening intuition returns, but with probability and risk made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l"/>
            <a:r>
              <a:rPr sz="850" b="0">
                <a:solidFill>
                  <a:srgbClr val="8A8F98"/>
                </a:solidFill>
                <a:latin typeface="Aptos"/>
              </a:rPr>
              <a:t>Equilibrium is the bridge from curve-shape intuition to distributional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4892040" cy="4617720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11827"/>
                </a:solidFill>
                <a:latin typeface="Aptos"/>
              </a:rPr>
              <a:t>At the outset, expectations theory was appealing because the curve seems to say something about future rates.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11827"/>
                </a:solidFill>
                <a:latin typeface="Aptos"/>
              </a:rPr>
              <a:t>The equilibrium axiom keeps that intuition alive, but does not pretend risk is absent.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11827"/>
                </a:solidFill>
                <a:latin typeface="Aptos"/>
              </a:rPr>
              <a:t>Instead, the expected rolling-forward structure is read through an equilibrium density.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11827"/>
                </a:solidFill>
                <a:latin typeface="Aptos"/>
              </a:rPr>
              <a:t>So the curve is no longer only a forecast object. It becomes a distributional object: expectation, variance and risk all sit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70432"/>
            <a:ext cx="4434840" cy="694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9088" y="1307592"/>
            <a:ext cx="38862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ctr"/>
            <a:r>
              <a:rPr sz="1700" b="1">
                <a:solidFill>
                  <a:srgbClr val="20847C"/>
                </a:solidFill>
                <a:latin typeface="Aptos"/>
              </a:rPr>
              <a:t>Expectations intuition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39327" y="1920240"/>
            <a:ext cx="0" cy="438912"/>
          </a:xfrm>
          <a:prstGeom prst="line">
            <a:avLst/>
          </a:prstGeom>
          <a:ln w="3175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0" y="2414016"/>
            <a:ext cx="443484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660904"/>
            <a:ext cx="37947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E[x_tau] carries curve-shape information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39327" y="3383280"/>
            <a:ext cx="0" cy="438911"/>
          </a:xfrm>
          <a:prstGeom prst="line">
            <a:avLst/>
          </a:prstGeom>
          <a:ln w="31750">
            <a:solidFill>
              <a:srgbClr val="D9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3877056"/>
            <a:ext cx="443484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37947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p_eq(x, tau) adds risk and dispersion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5321808"/>
            <a:ext cx="429768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5458968"/>
            <a:ext cx="3840480" cy="329184"/>
          </a:xfrm>
          <a:prstGeom prst="rect">
            <a:avLst/>
          </a:prstGeom>
          <a:noFill/>
        </p:spPr>
        <p:txBody>
          <a:bodyPr wrap="square" lIns="54864" tIns="18288" rIns="54864" bIns="18288">
            <a:normAutofit/>
          </a:bodyPr>
          <a:lstStyle/>
          <a:p>
            <a:pPr algn="ctr"/>
            <a:r>
              <a:rPr sz="1350" b="1">
                <a:solidFill>
                  <a:srgbClr val="9A3412"/>
                </a:solidFill>
                <a:latin typeface="Aptos"/>
              </a:rPr>
              <a:t>Key message: equilibrium is not a retreat from expectations theory; it is the risk-aware version of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Proof section: one statement, three layers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full proof is in the paper; the deck isolates the mathematical mechanism.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61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Recommended build structure</a:t>
            </a:r>
          </a:p>
        </p:txBody>
      </p:sp>
      <p:sp>
        <p:nvSpPr>
          <p:cNvPr id="7" name="Layer1Panel"/>
          <p:cNvSpPr/>
          <p:nvPr/>
        </p:nvSpPr>
        <p:spPr>
          <a:xfrm>
            <a:off x="777240" y="1874519"/>
            <a:ext cx="33375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Tag"/>
          <p:cNvSpPr/>
          <p:nvPr/>
        </p:nvSpPr>
        <p:spPr>
          <a:xfrm>
            <a:off x="914400" y="198424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ayer1Number"/>
          <p:cNvSpPr txBox="1"/>
          <p:nvPr/>
        </p:nvSpPr>
        <p:spPr>
          <a:xfrm>
            <a:off x="914400" y="2007107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Layer1Label"/>
          <p:cNvSpPr txBox="1"/>
          <p:nvPr/>
        </p:nvSpPr>
        <p:spPr>
          <a:xfrm>
            <a:off x="1399032" y="1975103"/>
            <a:ext cx="255117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1" name="Layer1Text"/>
          <p:cNvSpPr txBox="1"/>
          <p:nvPr/>
        </p:nvSpPr>
        <p:spPr>
          <a:xfrm>
            <a:off x="941832" y="2340863"/>
            <a:ext cx="3008376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Name the mathematical claim in plain language before showing the algebra.</a:t>
            </a:r>
          </a:p>
        </p:txBody>
      </p:sp>
      <p:sp>
        <p:nvSpPr>
          <p:cNvPr id="12" name="Layer2Panel"/>
          <p:cNvSpPr/>
          <p:nvPr/>
        </p:nvSpPr>
        <p:spPr>
          <a:xfrm>
            <a:off x="4434840" y="1874519"/>
            <a:ext cx="33375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ayer2Tag"/>
          <p:cNvSpPr/>
          <p:nvPr/>
        </p:nvSpPr>
        <p:spPr>
          <a:xfrm>
            <a:off x="4572000" y="198424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yer2Number"/>
          <p:cNvSpPr txBox="1"/>
          <p:nvPr/>
        </p:nvSpPr>
        <p:spPr>
          <a:xfrm>
            <a:off x="4572000" y="2007107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Layer2Label"/>
          <p:cNvSpPr txBox="1"/>
          <p:nvPr/>
        </p:nvSpPr>
        <p:spPr>
          <a:xfrm>
            <a:off x="5056631" y="1975103"/>
            <a:ext cx="255117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6" name="Layer2Text"/>
          <p:cNvSpPr txBox="1"/>
          <p:nvPr/>
        </p:nvSpPr>
        <p:spPr>
          <a:xfrm>
            <a:off x="4599431" y="2340863"/>
            <a:ext cx="3008376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Put the essential formula in a dedicated text box, so the audience knows what to track.</a:t>
            </a:r>
          </a:p>
        </p:txBody>
      </p:sp>
      <p:sp>
        <p:nvSpPr>
          <p:cNvPr id="17" name="Layer3Panel"/>
          <p:cNvSpPr/>
          <p:nvPr/>
        </p:nvSpPr>
        <p:spPr>
          <a:xfrm>
            <a:off x="8092440" y="1874519"/>
            <a:ext cx="33375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Tag"/>
          <p:cNvSpPr/>
          <p:nvPr/>
        </p:nvSpPr>
        <p:spPr>
          <a:xfrm>
            <a:off x="8229600" y="198424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ayer3Number"/>
          <p:cNvSpPr txBox="1"/>
          <p:nvPr/>
        </p:nvSpPr>
        <p:spPr>
          <a:xfrm>
            <a:off x="8229600" y="2007107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Layer3Label"/>
          <p:cNvSpPr txBox="1"/>
          <p:nvPr/>
        </p:nvSpPr>
        <p:spPr>
          <a:xfrm>
            <a:off x="8714232" y="1975103"/>
            <a:ext cx="255117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1" name="Layer3Text"/>
          <p:cNvSpPr txBox="1"/>
          <p:nvPr/>
        </p:nvSpPr>
        <p:spPr>
          <a:xfrm>
            <a:off x="8257031" y="2340863"/>
            <a:ext cx="3008376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Explain why the statement matters for the IRFR framework and for the later slides.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56432"/>
            <a:ext cx="201168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Aptos"/>
              </a:rPr>
              <a:t>Proof order</a:t>
            </a:r>
          </a:p>
        </p:txBody>
      </p:sp>
      <p:sp>
        <p:nvSpPr>
          <p:cNvPr id="23" name="RoadmapPanel"/>
          <p:cNvSpPr/>
          <p:nvPr/>
        </p:nvSpPr>
        <p:spPr>
          <a:xfrm>
            <a:off x="777240" y="3822191"/>
            <a:ext cx="10789920" cy="1078992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admapText"/>
          <p:cNvSpPr txBox="1"/>
          <p:nvPr/>
        </p:nvSpPr>
        <p:spPr>
          <a:xfrm>
            <a:off x="905256" y="3931920"/>
            <a:ext cx="10533888" cy="8595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>
                <a:solidFill>
                  <a:srgbClr val="121826"/>
                </a:solidFill>
                <a:latin typeface="Aptos"/>
              </a:rPr>
              <a:t>1 Affine state dependence    2 Exponential components    3 Drift-diffusion identification</a:t>
            </a:r>
          </a:p>
          <a:p>
            <a:pPr algn="l"/>
            <a:r>
              <a:rPr sz="1300" b="0">
                <a:solidFill>
                  <a:srgbClr val="121826"/>
                </a:solidFill>
                <a:latin typeface="Aptos"/>
              </a:rPr>
              <a:t>4 Expectations and variance    5 MSNR constant    6 IRFR curve</a:t>
            </a:r>
          </a:p>
          <a:p>
            <a:pPr algn="l"/>
            <a:r>
              <a:rPr sz="1300" b="0">
                <a:solidFill>
                  <a:srgbClr val="121826"/>
                </a:solidFill>
                <a:latin typeface="Aptos"/>
              </a:rPr>
              <a:t>7 PDF solution    8 Role of lambda^2/a^2    9 Baseline re-expression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48072"/>
            <a:ext cx="10789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Slide 6 is kept as the primitive-choice bridge: stock-price P&amp;L intuition -&gt; IRFR as the financially meaningful rate object.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1. Affine form of drift and diffusion loading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Rolling-maturity invariance plus affine closure restricts state dependence.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KFE and closure conditions force both coefficients to be affine in the state variable x.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KFE convention: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d phi/dt = d_xx(g^2 phi) + d_x(f phi)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Affine conclusion: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g(x,t,T) = a(tau)x + b(tau)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f(x,t,T) = a1(tau)x + b1(tau)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tau = T - t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SDE convention: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f = -mu,   g^2 = sigma^2/2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model does not guess an affine rate process. The affine state dependence is the closed form produced by rolling invariance plus KFE closure.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2. Exponential time and maturity components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Separate calendar-time decay from maturity decay before imposing a baseline branch.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expectation deviation decays with the temporal drift scale; the equilibrium curve uses a maturity-decay scale.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Expectation deviation: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E[x_{t,T}] = x_{e,T-t}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  + (x_{t0,T} - x_{e,T-t0}) exp[-a1(t-t0)]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Equilibrium maturity curve: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x_{e,tau} = x_infty + A exp[-lambda^2 tau]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Scale ratio kept visible: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r = lambda^2/a^2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This prevents the deck from forcing lambda^2 = a^2 too early. The later shape mechanism depends on first seeing the general r-branch.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3. Baseline drift-diffusion scalar identification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baseline ties the drift scale to the variance-production scale.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Before the identification, the variance equation carries an extra homogeneous term.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Variance equation before baseline: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d_t V(t,T) = 2(a^2 - a1)V(t,T)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  + (1/a^2)(x_e prime(tau))^2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Baseline identification: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a1 = a^2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This is a structural normalization. It removes an independent variance scale and leaves one temporal drift-diffusion clock.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4. Expectations and variance from the KFE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moment formulas are consequences of the probability law.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Under the general r-branch, both expectation and local variance-rate inherit two maturity loadings.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Expectation: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E[x_{t,T}] = x_infty - x_infty/(1+r) exp[-r a^2(T-t)]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  + C_r exp[-a^2(T+t-2t0)]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where: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C_r = x_{t0,t0} - r x_infty/(1+r)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Variance-rate: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d_t Var(x_{t,T}) = 2a^2 [ C_r exp[-a^2(T+t-2t0)]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  + r x_infty/(1+r) exp[-r a^2(T-t)] ]^2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first moment carries the modified expectations intuition. The second moment keeps risk in the same distributional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5. MSNR is a global constant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signal-to-noise ratio does not become a maturity-by-maturity curve feature.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signal and the square-root variance contain the same maturity-time loading, which cancels in the ratio.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Definition: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MSNR = |f(m(t,T),t,T)| / sqrt[d_t Var(x_{t,T})]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Model-implied result: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MSNR = a / sqrt(2)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Independence: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no dependence on t, T, or x_{t,T}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This is a major conceptual payoff: the market signal-to-noise ratio is global and tied to one parameter.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6. Functional form of the IRFR curve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One stochastic factor can still have two deterministic maturity loadings.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short-end value fixes the reconstruction boundary; x_infty fixes the long end; r controls the second maturity clock.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General r-branch IRFR curve: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x_{t,T} = x_infty - x_infty/(1+r) exp[-r a^2(T-t)]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  + (x_{t,t} - r x_infty/(1+r)) exp[-a^2(T-t)]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Equivalent with tau = T-t: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x_t(tau) = x_infty + C1 exp[-a^2 tau] + C2 exp[-r a^2 tau]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r = 1 collapses the two clocks into one. r != 1 preserves one Brownian factor but allows richer curve shapes.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7. Solve for the PDF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KFE selects a shifted inverse-gamma equilibrium density.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Move into the shifted coordinate, use the reciprocal variable, and the Frobenius recurrence selects the inverse-gamma branch.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Shifted coordinate: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x_tilde^(r)_{t,T} = x_{t,T} - x_infty(1 - exp[-r a^2(T-t)])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Distribution: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x_tilde^(r)_{t,T} ~ InvGamma(r+2, r x_infty exp[-r a^2(T-t)])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Density: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phi = (beta^(r+2)/Gamma(r+2)) x_tilde^(-(r+3)) exp[-beta/x_tilde]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beta = r x_infty exp[-r a^2(T-t)]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density is solved, not assumed. The baseline order-three law is only the r = 1 branch of the broader family.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8. Re-establish the baseline after lambda^2/a^2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Show the role of the scale ratio before simplifying to the one-scale branch.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general branch exposes the shape mechanism; the baseline is then recovered by setting r = 1.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Scale ratio: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r = lambda^2/a^2 &gt; 0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Boundary amplitude: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A = -x_infty/(1+r)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Short-end equilibrium level: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x_{e,0} = r x_infty/(1+r)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Baseline branch: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r = 1  &lt;=&gt;  lambda^2 = a^2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20785A"/>
          </a:solidFill>
          <a:ln>
            <a:solidFill>
              <a:srgbClr val="2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This makes clear what is lost when r is set to one: the two-loading maturity geometry collapses.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9. Re-express the earlier results in baseline form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After the mechanism is visible, simplify the formulas for tutorial intuition.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502920" y="1280160"/>
            <a:ext cx="3246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64008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64008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124712" y="1380744"/>
            <a:ext cx="245973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What is being shown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667512" y="1746504"/>
            <a:ext cx="291693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Set r = 1, so lambda^2 = a^2. The order-three density and one-loading IRFR curve are recovered.</a:t>
            </a:r>
          </a:p>
        </p:txBody>
      </p:sp>
      <p:sp>
        <p:nvSpPr>
          <p:cNvPr id="11" name="EquationPanel"/>
          <p:cNvSpPr/>
          <p:nvPr/>
        </p:nvSpPr>
        <p:spPr>
          <a:xfrm>
            <a:off x="3977639" y="1280160"/>
            <a:ext cx="3840480" cy="4434840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quationTag"/>
          <p:cNvSpPr/>
          <p:nvPr/>
        </p:nvSpPr>
        <p:spPr>
          <a:xfrm>
            <a:off x="416052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qNumber"/>
          <p:cNvSpPr txBox="1"/>
          <p:nvPr/>
        </p:nvSpPr>
        <p:spPr>
          <a:xfrm>
            <a:off x="416052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qLabel"/>
          <p:cNvSpPr txBox="1"/>
          <p:nvPr/>
        </p:nvSpPr>
        <p:spPr>
          <a:xfrm>
            <a:off x="4645152" y="1380744"/>
            <a:ext cx="2834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key equation / identity</a:t>
            </a:r>
          </a:p>
        </p:txBody>
      </p:sp>
      <p:sp>
        <p:nvSpPr>
          <p:cNvPr id="15" name="EqText"/>
          <p:cNvSpPr txBox="1"/>
          <p:nvPr/>
        </p:nvSpPr>
        <p:spPr>
          <a:xfrm>
            <a:off x="4160520" y="1783080"/>
            <a:ext cx="3474720" cy="3703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Baseline IRFR curve: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x_{t,T} = x_infty + (x_{t,t} - x_infty) exp[-a^2(T-t)]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Equilibrium curve: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x_{e,tau} = x_infty(1 - 1/2 exp[-a^2 tau])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Baseline density: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x_tilde_{t,T} ~ InvGamma(3, x_infty exp[-a^2(T-t)])</a:t>
            </a:r>
          </a:p>
          <a:p>
            <a:pPr algn="l"/>
            <a:endParaRPr sz="1060" b="0">
              <a:solidFill>
                <a:srgbClr val="121826"/>
              </a:solidFill>
              <a:latin typeface="Aptos"/>
            </a:endParaRP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MSNR remains:</a:t>
            </a:r>
          </a:p>
          <a:p>
            <a:pPr algn="l"/>
            <a:r>
              <a:rPr sz="1060" b="0">
                <a:solidFill>
                  <a:srgbClr val="121826"/>
                </a:solidFill>
                <a:latin typeface="Aptos"/>
              </a:rPr>
              <a:t>  a/sqrt(2)</a:t>
            </a:r>
          </a:p>
        </p:txBody>
      </p:sp>
      <p:sp>
        <p:nvSpPr>
          <p:cNvPr id="16" name="Layer3Panel"/>
          <p:cNvSpPr/>
          <p:nvPr/>
        </p:nvSpPr>
        <p:spPr>
          <a:xfrm>
            <a:off x="8092440" y="1280160"/>
            <a:ext cx="36118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229600" y="138988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229600" y="141274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714232" y="1380744"/>
            <a:ext cx="28254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The intuition and payoff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257031" y="1746504"/>
            <a:ext cx="3282696" cy="38679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Use the baseline branch for first-pass teaching, but remind the audience that the richer shape mechanism lives in the general r-branch.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861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 Display"/>
              </a:rPr>
              <a:t>Transition: from proof blocks to model outputs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786384"/>
            <a:ext cx="111861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The proof section now lands on quantities the audience can use.</a:t>
            </a:r>
          </a:p>
        </p:txBody>
      </p:sp>
      <p:sp>
        <p:nvSpPr>
          <p:cNvPr id="5" name="HeaderRule"/>
          <p:cNvSpPr/>
          <p:nvPr/>
        </p:nvSpPr>
        <p:spPr>
          <a:xfrm>
            <a:off x="502920" y="1060704"/>
            <a:ext cx="11186160" cy="13716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yer1Panel"/>
          <p:cNvSpPr/>
          <p:nvPr/>
        </p:nvSpPr>
        <p:spPr>
          <a:xfrm>
            <a:off x="685800" y="141732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yer1Tag"/>
          <p:cNvSpPr/>
          <p:nvPr/>
        </p:nvSpPr>
        <p:spPr>
          <a:xfrm>
            <a:off x="822960" y="1527048"/>
            <a:ext cx="411480" cy="29260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1Number"/>
          <p:cNvSpPr txBox="1"/>
          <p:nvPr/>
        </p:nvSpPr>
        <p:spPr>
          <a:xfrm>
            <a:off x="822960" y="154990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Layer1Label"/>
          <p:cNvSpPr txBox="1"/>
          <p:nvPr/>
        </p:nvSpPr>
        <p:spPr>
          <a:xfrm>
            <a:off x="1307592" y="1517904"/>
            <a:ext cx="25968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Density and moments</a:t>
            </a:r>
          </a:p>
        </p:txBody>
      </p:sp>
      <p:sp>
        <p:nvSpPr>
          <p:cNvPr id="10" name="Layer1Text"/>
          <p:cNvSpPr txBox="1"/>
          <p:nvPr/>
        </p:nvSpPr>
        <p:spPr>
          <a:xfrm>
            <a:off x="850392" y="1883664"/>
            <a:ext cx="3054096" cy="8503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KFE route gives one probability object from which expectations, variance and the PDF are read.</a:t>
            </a:r>
          </a:p>
        </p:txBody>
      </p:sp>
      <p:sp>
        <p:nvSpPr>
          <p:cNvPr id="11" name="Layer2Panel"/>
          <p:cNvSpPr/>
          <p:nvPr/>
        </p:nvSpPr>
        <p:spPr>
          <a:xfrm>
            <a:off x="4434840" y="141732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ayer2Tag"/>
          <p:cNvSpPr/>
          <p:nvPr/>
        </p:nvSpPr>
        <p:spPr>
          <a:xfrm>
            <a:off x="4572000" y="1527048"/>
            <a:ext cx="411480" cy="292608"/>
          </a:xfrm>
          <a:prstGeom prst="round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ayer2Number"/>
          <p:cNvSpPr txBox="1"/>
          <p:nvPr/>
        </p:nvSpPr>
        <p:spPr>
          <a:xfrm>
            <a:off x="4572000" y="154990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Layer2Label"/>
          <p:cNvSpPr txBox="1"/>
          <p:nvPr/>
        </p:nvSpPr>
        <p:spPr>
          <a:xfrm>
            <a:off x="5056631" y="1517904"/>
            <a:ext cx="25968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Curve shape</a:t>
            </a:r>
          </a:p>
        </p:txBody>
      </p:sp>
      <p:sp>
        <p:nvSpPr>
          <p:cNvPr id="15" name="Layer2Text"/>
          <p:cNvSpPr txBox="1"/>
          <p:nvPr/>
        </p:nvSpPr>
        <p:spPr>
          <a:xfrm>
            <a:off x="4599431" y="1883664"/>
            <a:ext cx="3054096" cy="8503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general r-branch explains why one factor in randomness can still produce two deterministic maturity loadings.</a:t>
            </a:r>
          </a:p>
        </p:txBody>
      </p:sp>
      <p:sp>
        <p:nvSpPr>
          <p:cNvPr id="16" name="Layer3Panel"/>
          <p:cNvSpPr/>
          <p:nvPr/>
        </p:nvSpPr>
        <p:spPr>
          <a:xfrm>
            <a:off x="8183879" y="141732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yer3Tag"/>
          <p:cNvSpPr/>
          <p:nvPr/>
        </p:nvSpPr>
        <p:spPr>
          <a:xfrm>
            <a:off x="8321040" y="1527048"/>
            <a:ext cx="411480" cy="292608"/>
          </a:xfrm>
          <a:prstGeom prst="roundRect">
            <a:avLst/>
          </a:prstGeom>
          <a:solidFill>
            <a:srgbClr val="B16800"/>
          </a:solidFill>
          <a:ln>
            <a:solidFill>
              <a:srgbClr val="B1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yer3Number"/>
          <p:cNvSpPr txBox="1"/>
          <p:nvPr/>
        </p:nvSpPr>
        <p:spPr>
          <a:xfrm>
            <a:off x="8321040" y="1549908"/>
            <a:ext cx="41148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Layer3Label"/>
          <p:cNvSpPr txBox="1"/>
          <p:nvPr/>
        </p:nvSpPr>
        <p:spPr>
          <a:xfrm>
            <a:off x="8805672" y="1517904"/>
            <a:ext cx="2596896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50" b="1">
                <a:solidFill>
                  <a:srgbClr val="17324D"/>
                </a:solidFill>
                <a:latin typeface="Aptos"/>
              </a:rPr>
              <a:t>MSNR</a:t>
            </a:r>
          </a:p>
        </p:txBody>
      </p:sp>
      <p:sp>
        <p:nvSpPr>
          <p:cNvPr id="20" name="Layer3Text"/>
          <p:cNvSpPr txBox="1"/>
          <p:nvPr/>
        </p:nvSpPr>
        <p:spPr>
          <a:xfrm>
            <a:off x="8348471" y="1883664"/>
            <a:ext cx="3054096" cy="8503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70" b="0">
                <a:solidFill>
                  <a:srgbClr val="121826"/>
                </a:solidFill>
                <a:latin typeface="Aptos"/>
              </a:rPr>
              <a:t>The signal-to-noise ratio is a global constant tied to a, not a maturity-specific curve.</a:t>
            </a:r>
          </a:p>
        </p:txBody>
      </p:sp>
      <p:sp>
        <p:nvSpPr>
          <p:cNvPr id="21" name="NextBuildPanel"/>
          <p:cNvSpPr/>
          <p:nvPr/>
        </p:nvSpPr>
        <p:spPr>
          <a:xfrm>
            <a:off x="960120" y="3703320"/>
            <a:ext cx="10287000" cy="749808"/>
          </a:xfrm>
          <a:prstGeom prst="roundRect">
            <a:avLst/>
          </a:prstGeom>
          <a:solidFill>
            <a:srgbClr val="FAFCFF"/>
          </a:solidFill>
          <a:ln w="9525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NextBuildText"/>
          <p:cNvSpPr txBox="1"/>
          <p:nvPr/>
        </p:nvSpPr>
        <p:spPr>
          <a:xfrm>
            <a:off x="1088136" y="3813048"/>
            <a:ext cx="10030968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>
                <a:solidFill>
                  <a:srgbClr val="121826"/>
                </a:solidFill>
                <a:latin typeface="Aptos"/>
              </a:rPr>
              <a:t>Next build: turn any statement that needs extra explanation into a worked slide pair: first the statement, then a short guided derivation.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81728"/>
            <a:ext cx="102870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0">
                <a:solidFill>
                  <a:srgbClr val="525B69"/>
                </a:solidFill>
                <a:latin typeface="Aptos"/>
              </a:rPr>
              <a:t>Repeated reminders: equilibrium moment transport is not the solved density; maturity-indexed equilibrium is not calendar-time freezing; one factor in randomness is not one loading in maturity.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3096</Words>
  <Application>Microsoft Macintosh PowerPoint</Application>
  <PresentationFormat>Widescreen</PresentationFormat>
  <Paragraphs>373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Mini Oza</cp:lastModifiedBy>
  <cp:revision>5</cp:revision>
  <dcterms:modified xsi:type="dcterms:W3CDTF">2026-05-14T10:45:25Z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2026-05-13T08:40:38Z</dcterms:created>
  <dc:creator>OpenAI</dc:creator>
  <dc:description/>
  <dc:language>en-US</dc:language>
  <cp:lastModifiedBy>OpenAI</cp:lastModifiedBy>
  <dcterms:modified xsi:type="dcterms:W3CDTF">2026-05-13T08:40:38Z</dcterms:modified>
  <cp:revision>1</cp:revision>
  <dc:subject>IRFR tutorial opening</dc:subject>
  <dc:title>A One-Factor Interest Rate Model Motivated by Risk and Expectations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